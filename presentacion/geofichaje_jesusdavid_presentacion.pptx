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0287000" cx="18288000"/>
  <p:notesSz cx="6858000" cy="9144000"/>
  <p:embeddedFontLst>
    <p:embeddedFont>
      <p:font typeface="Play"/>
      <p:regular r:id="rId16"/>
      <p:bold r:id="rId17"/>
    </p:embeddedFont>
    <p:embeddedFont>
      <p:font typeface="Cascadia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scadia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Cascadia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19" Type="http://schemas.openxmlformats.org/officeDocument/2006/relationships/font" Target="fonts/CascadiaMono-bold.fntdata"/><Relationship Id="rId6" Type="http://schemas.openxmlformats.org/officeDocument/2006/relationships/slide" Target="slides/slide2.xml"/><Relationship Id="rId18" Type="http://schemas.openxmlformats.org/officeDocument/2006/relationships/font" Target="fonts/Cascadia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36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10750" y="1524000"/>
            <a:ext cx="7239000" cy="7239000"/>
          </a:xfrm>
          <a:prstGeom prst="roundRect">
            <a:avLst>
              <a:gd fmla="val 4211" name="adj"/>
            </a:avLst>
          </a:prstGeom>
          <a:solidFill>
            <a:srgbClr val="29483D"/>
          </a:solidFill>
          <a:ln cap="flat" cmpd="sng" w="28575">
            <a:solidFill>
              <a:srgbClr val="3C6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477500" y="2857500"/>
            <a:ext cx="6096000" cy="7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D7E8DD"/>
                </a:solidFill>
                <a:latin typeface="Cascadia Mono"/>
                <a:ea typeface="Cascadia Mono"/>
                <a:cs typeface="Cascadia Mono"/>
                <a:sym typeface="Cascadia Mono"/>
              </a:rPr>
              <a:t>37.8802566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D7E8DD"/>
                </a:solidFill>
                <a:latin typeface="Cascadia Mono"/>
                <a:ea typeface="Cascadia Mono"/>
                <a:cs typeface="Cascadia Mono"/>
                <a:sym typeface="Cascadia Mono"/>
              </a:rPr>
              <a:t>-4.8040947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76300" y="1809750"/>
            <a:ext cx="142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69A4A"/>
                </a:solidFill>
                <a:latin typeface="Arial"/>
                <a:ea typeface="Arial"/>
                <a:cs typeface="Arial"/>
                <a:sym typeface="Arial"/>
              </a:rPr>
              <a:t>GEOFICHAJE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76300" y="2266950"/>
            <a:ext cx="58483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8EA"/>
                </a:solidFill>
                <a:latin typeface="Play"/>
                <a:ea typeface="Play"/>
                <a:cs typeface="Play"/>
                <a:sym typeface="Play"/>
              </a:rPr>
              <a:t>GeoFichaje Jesus David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76300" y="451485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E8DDC8"/>
                </a:solidFill>
                <a:latin typeface="Arial"/>
                <a:ea typeface="Arial"/>
                <a:cs typeface="Arial"/>
                <a:sym typeface="Arial"/>
              </a:rPr>
              <a:t>Aplicacion web de control horario: el empleado ficha entrada o salida y el sistema comprueba DNI, ubicacion, horario y orden del fichaje.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76300" y="9239250"/>
            <a:ext cx="17411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DBFAD"/>
                </a:solidFill>
                <a:latin typeface="Arial"/>
                <a:ea typeface="Arial"/>
                <a:cs typeface="Arial"/>
                <a:sym typeface="Arial"/>
              </a:rPr>
              <a:t>Proyecto Spring Boot · MEDAC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De que va el proyecto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digitaliza el registro de jornada y evita fichajes fuera del centro o fuera de horario.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76300" y="2095500"/>
            <a:ext cx="5346700" cy="6983730"/>
          </a:xfrm>
          <a:prstGeom prst="roundRect">
            <a:avLst>
              <a:gd fmla="val 2138" name="adj"/>
            </a:avLst>
          </a:prstGeom>
          <a:solidFill>
            <a:srgbClr val="E6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200150" y="2419350"/>
            <a:ext cx="4705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315F8C"/>
                </a:solidFill>
                <a:latin typeface="Play"/>
                <a:ea typeface="Play"/>
                <a:cs typeface="Play"/>
                <a:sym typeface="Play"/>
              </a:rPr>
              <a:t>Control horario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200150" y="3028950"/>
            <a:ext cx="47053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Registra entradas y salidas de empleados para saber cuando empieza y termina cada jornada.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470650" y="2095500"/>
            <a:ext cx="5346700" cy="6983730"/>
          </a:xfrm>
          <a:prstGeom prst="roundRect">
            <a:avLst>
              <a:gd fmla="val 2138" name="adj"/>
            </a:avLst>
          </a:prstGeom>
          <a:solidFill>
            <a:srgbClr val="E7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00850" y="2419350"/>
            <a:ext cx="4705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F7D57"/>
                </a:solidFill>
                <a:latin typeface="Play"/>
                <a:ea typeface="Play"/>
                <a:cs typeface="Play"/>
                <a:sym typeface="Play"/>
              </a:rPr>
              <a:t>Geolocalizacion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00850" y="3028950"/>
            <a:ext cx="47053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El navegador obtiene la posicion del empleado y el backend comprueba que este cerca del centro.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2065000" y="2095500"/>
            <a:ext cx="5346700" cy="6983730"/>
          </a:xfrm>
          <a:prstGeom prst="roundRect">
            <a:avLst>
              <a:gd fmla="val 2138" name="adj"/>
            </a:avLst>
          </a:prstGeom>
          <a:solidFill>
            <a:srgbClr val="F6E7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2382500" y="2419350"/>
            <a:ext cx="4705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B54242"/>
                </a:solidFill>
                <a:latin typeface="Play"/>
                <a:ea typeface="Play"/>
                <a:cs typeface="Play"/>
                <a:sym typeface="Play"/>
              </a:rPr>
              <a:t>Historial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2382500" y="3028950"/>
            <a:ext cx="47053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Cada empleado ve sus registros, entradas acumuladas y tiempo trabajado calculado desde la base de datos.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Recorrido de un fichaje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La aplicacion se entiende mejor siguiendo el camino desde el empleado hasta MySQL.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76300" y="3638550"/>
            <a:ext cx="1138523" cy="647700"/>
          </a:xfrm>
          <a:prstGeom prst="roundRect">
            <a:avLst>
              <a:gd fmla="val 14706" name="adj"/>
            </a:avLst>
          </a:prstGeom>
          <a:solidFill>
            <a:srgbClr val="E6EEF6"/>
          </a:solidFill>
          <a:ln cap="flat" cmpd="sng" w="9525">
            <a:solidFill>
              <a:srgbClr val="315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1047750" y="3733800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HTML + JS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2152650" y="375285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C69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2609175" y="3752850"/>
            <a:ext cx="1277100" cy="419100"/>
          </a:xfrm>
          <a:prstGeom prst="roundRect">
            <a:avLst>
              <a:gd fmla="val 14706" name="adj"/>
            </a:avLst>
          </a:prstGeom>
          <a:solidFill>
            <a:srgbClr val="E7F2EA"/>
          </a:solidFill>
          <a:ln cap="flat" cmpd="sng" w="9525">
            <a:solidFill>
              <a:srgbClr val="21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2809425" y="3819450"/>
            <a:ext cx="910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886200" y="375285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C69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341199" y="3752850"/>
            <a:ext cx="1050000" cy="419100"/>
          </a:xfrm>
          <a:prstGeom prst="roundRect">
            <a:avLst>
              <a:gd fmla="val 22727" name="adj"/>
            </a:avLst>
          </a:prstGeom>
          <a:solidFill>
            <a:srgbClr val="E6F4ED"/>
          </a:solidFill>
          <a:ln cap="flat" cmpd="sng" w="9525">
            <a:solidFill>
              <a:srgbClr val="2F7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14850" y="3848100"/>
            <a:ext cx="80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F7D57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391150" y="375285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C69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846451" y="3752850"/>
            <a:ext cx="1366200" cy="419100"/>
          </a:xfrm>
          <a:prstGeom prst="roundRect">
            <a:avLst>
              <a:gd fmla="val 22727" name="adj"/>
            </a:avLst>
          </a:prstGeom>
          <a:solidFill>
            <a:srgbClr val="F6E7E4"/>
          </a:solidFill>
          <a:ln cap="flat" cmpd="sng" w="9525">
            <a:solidFill>
              <a:srgbClr val="B5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019800" y="3848100"/>
            <a:ext cx="105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54242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181850" y="375285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C69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7636949" y="3752850"/>
            <a:ext cx="992700" cy="419100"/>
          </a:xfrm>
          <a:prstGeom prst="roundRect">
            <a:avLst>
              <a:gd fmla="val 22727" name="adj"/>
            </a:avLst>
          </a:prstGeom>
          <a:solidFill>
            <a:srgbClr val="F7EFE1"/>
          </a:solidFill>
          <a:ln cap="flat" cmpd="sng" w="9525">
            <a:solidFill>
              <a:srgbClr val="1F25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7810500" y="3848100"/>
            <a:ext cx="72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76300" y="46291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69A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562100" y="462915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El empleado entra con su DNI y solo accede si existe en la base de datos.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876300" y="54864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69A4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562100" y="5486400"/>
            <a:ext cx="81343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El navegador pide ubicacion GPS y activa los botones de entrada y salida.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76300" y="63436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69A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562100" y="6343650"/>
            <a:ext cx="8001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El controlador recibe el formulario y delega las reglas en FichajeService.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76300" y="7200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69A4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1562100" y="7200900"/>
            <a:ext cx="7067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Si todas las validaciones pasan, el registro se guarda en MySQL.</a:t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Datos que guarda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El proyecto no necesita muchas tablas: guarda empleados y sus registros de fichaje.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76300" y="2095500"/>
            <a:ext cx="7504814" cy="6983730"/>
          </a:xfrm>
          <a:prstGeom prst="roundRect">
            <a:avLst>
              <a:gd fmla="val 1637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181100" y="2400300"/>
            <a:ext cx="6896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Empleado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181100" y="30480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543300" y="3067050"/>
            <a:ext cx="453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empleados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181100" y="35052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campos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543300" y="3524250"/>
            <a:ext cx="453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id, nombre, dni, email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181100" y="39433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clave</a:t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543300" y="3962400"/>
            <a:ext cx="453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dni unico para login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8781164" y="2095500"/>
            <a:ext cx="8630536" cy="6983730"/>
          </a:xfrm>
          <a:prstGeom prst="roundRect">
            <a:avLst>
              <a:gd fmla="val 1637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086850" y="2400300"/>
            <a:ext cx="8020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Fichaje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9086850" y="30480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1449050" y="3067050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registros_fichaje</a:t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9086850" y="35052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relacion</a:t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1449050" y="3524250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ManyToOne con Empleado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9086850" y="39433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7D57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1449050" y="3962400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ENTRADA o SALIDA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086850" y="44005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GPS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1449050" y="4419600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Coordenadas embebidas: latitud, longitud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Pantallas principales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La interfaz tiene dos momentos: acceso por DNI y panel personal de fichaje.</a:t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876300" y="2095500"/>
            <a:ext cx="8077200" cy="3358515"/>
          </a:xfrm>
          <a:prstGeom prst="roundRect">
            <a:avLst>
              <a:gd fmla="val 2836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143000" y="2362200"/>
            <a:ext cx="7543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1. Acceso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143000" y="291465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index.html pide el DNI y muestra error si el empleado no existe.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9334500" y="2095500"/>
            <a:ext cx="8077200" cy="3358515"/>
          </a:xfrm>
          <a:prstGeom prst="roundRect">
            <a:avLst>
              <a:gd fmla="val 2836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9601200" y="2362200"/>
            <a:ext cx="7543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2. Panel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9601200" y="2914650"/>
            <a:ext cx="754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panel.html saluda al empleado y muestra resumen, mapa, botones e historial.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876300" y="5720715"/>
            <a:ext cx="8077200" cy="3358515"/>
          </a:xfrm>
          <a:prstGeom prst="roundRect">
            <a:avLst>
              <a:gd fmla="val 2836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143000" y="5981700"/>
            <a:ext cx="7543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3. Ubicacion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143000" y="6553200"/>
            <a:ext cx="754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JavaScript guarda latitud y longitud en campos ocultos antes de enviar el fichaje.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334500" y="5720715"/>
            <a:ext cx="8077200" cy="3358515"/>
          </a:xfrm>
          <a:prstGeom prst="roundRect">
            <a:avLst>
              <a:gd fmla="val 2836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601200" y="5981700"/>
            <a:ext cx="7543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4. Respuesta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9601200" y="6553200"/>
            <a:ext cx="754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La misma pantalla muestra exito o el motivo exacto por el que no se permite fichar.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Reglas de negocio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La parte mas importante es decidir si el fichaje es valido antes de guardarlo.</a:t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876300" y="4438650"/>
            <a:ext cx="5505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1362F"/>
                </a:solidFill>
                <a:latin typeface="Play"/>
                <a:ea typeface="Play"/>
                <a:cs typeface="Play"/>
                <a:sym typeface="Play"/>
              </a:rPr>
              <a:t>Solo se guarda si pasa 3 filtros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76300" y="6115050"/>
            <a:ext cx="59436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Si uno falla, el servicio lanza un RuntimeException con un mensaje claro para el usuario.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8820150" y="48577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Distancia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1182350" y="4876800"/>
            <a:ext cx="6229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Haversine &lt;= 200 m desde el centro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8820150" y="52578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7D57"/>
                </a:solidFill>
                <a:latin typeface="Arial"/>
                <a:ea typeface="Arial"/>
                <a:cs typeface="Arial"/>
                <a:sym typeface="Arial"/>
              </a:rPr>
              <a:t>Horario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1182350" y="5276850"/>
            <a:ext cx="6229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hora &gt;= 6 &amp;&amp; hora &lt; 22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8820150" y="56388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54242"/>
                </a:solidFill>
                <a:latin typeface="Arial"/>
                <a:ea typeface="Arial"/>
                <a:cs typeface="Arial"/>
                <a:sym typeface="Arial"/>
              </a:rPr>
              <a:t>Orden</a:t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1182350" y="5657850"/>
            <a:ext cx="6229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no entrada abierta; no salida sin entrada</a:t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8820150" y="60198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1182350" y="6038850"/>
            <a:ext cx="6229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save(registroNuevo) solo si pasa todo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Resumen del empleado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El panel convierte los registros en informacion facil de entender.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876300" y="2095500"/>
            <a:ext cx="8067675" cy="6983730"/>
          </a:xfrm>
          <a:prstGeom prst="roundRect">
            <a:avLst>
              <a:gd fmla="val 1637" name="adj"/>
            </a:avLst>
          </a:prstGeom>
          <a:solidFill>
            <a:srgbClr val="E7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200150" y="2419350"/>
            <a:ext cx="7429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F7D57"/>
                </a:solidFill>
                <a:latin typeface="Play"/>
                <a:ea typeface="Play"/>
                <a:cs typeface="Play"/>
                <a:sym typeface="Play"/>
              </a:rPr>
              <a:t>Dias trabajados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1200150" y="3086100"/>
            <a:ext cx="7429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Cuenta los registros cuyo estado es ENTRADA. En la interfaz aparece como entradas registradas.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9344025" y="2095500"/>
            <a:ext cx="8067675" cy="6983730"/>
          </a:xfrm>
          <a:prstGeom prst="roundRect">
            <a:avLst>
              <a:gd fmla="val 1637" name="adj"/>
            </a:avLst>
          </a:prstGeom>
          <a:solidFill>
            <a:srgbClr val="E6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9677400" y="2419350"/>
            <a:ext cx="7429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15F8C"/>
                </a:solidFill>
                <a:latin typeface="Play"/>
                <a:ea typeface="Play"/>
                <a:cs typeface="Play"/>
                <a:sym typeface="Play"/>
              </a:rPr>
              <a:t>Tiempo trabajado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9677400" y="3086100"/>
            <a:ext cx="7429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Ordena entradas y salidas por fecha, empareja cada entrada con una salida y suma duraciones.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Codigo clave</a:t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El codigo esta organizado para que cada clase tenga una responsabilidad clara.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876300" y="384810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876300" y="417195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@PostMapping("/fichar")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fichajeService.registrarFichaje(...)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6191250" y="3848100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Recibe DNI, latitud, longitud y estado. No guarda directamente: delega la logica al servicio.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876300" y="481965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F7D57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876300" y="5162550"/>
            <a:ext cx="5143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validarDistancia(...)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validarHorario(...)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validarOrdenDeFichaje(...)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6191250" y="4819650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Concentra las reglas importantes antes de crear el objeto Fichaje y llamar a save.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876300" y="601980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B54242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876300" y="6343650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findByEmpleadoIdOrderByFechaHoraDesc(id)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6191250" y="6019800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Spring Data JPA crea la consulta automaticamente leyendo el nombre del metodo.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876300" y="680085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69A4A"/>
                </a:solidFill>
                <a:latin typeface="Arial"/>
                <a:ea typeface="Arial"/>
                <a:cs typeface="Arial"/>
                <a:sym typeface="Arial"/>
              </a:rPr>
              <a:t>Vista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876300" y="7124700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navigator.geolocation.getCurrentPosition(...)</a:t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191250" y="6800850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panel.html obtiene la ubicacion del navegador y la envia al backend en campos ocultos.</a:t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Validacion por dentro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El ejemplo mas tecnico del proyecto es la comprobacion de distancia y orden de fichaje.</a:t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76300" y="2095500"/>
            <a:ext cx="8077200" cy="6983730"/>
          </a:xfrm>
          <a:prstGeom prst="roundRect">
            <a:avLst>
              <a:gd fmla="val 1637" name="adj"/>
            </a:avLst>
          </a:prstGeom>
          <a:solidFill>
            <a:srgbClr val="E6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1162050" y="2381250"/>
            <a:ext cx="7505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315F8C"/>
                </a:solidFill>
                <a:latin typeface="Play"/>
                <a:ea typeface="Play"/>
                <a:cs typeface="Play"/>
                <a:sym typeface="Play"/>
              </a:rPr>
              <a:t>Distancia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1162050" y="2990850"/>
            <a:ext cx="75057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Se usa la formula de Haversine para calcular metros entre la posicion del empleado y el centro de trabajo.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1162050" y="3829050"/>
            <a:ext cx="7505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distanciaEnMetros &lt;= 200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9334500" y="2095500"/>
            <a:ext cx="8077200" cy="6983730"/>
          </a:xfrm>
          <a:prstGeom prst="roundRect">
            <a:avLst>
              <a:gd fmla="val 1637" name="adj"/>
            </a:avLst>
          </a:prstGeom>
          <a:solidFill>
            <a:srgbClr val="E7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9620250" y="2381250"/>
            <a:ext cx="7505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F7D57"/>
                </a:solidFill>
                <a:latin typeface="Play"/>
                <a:ea typeface="Play"/>
                <a:cs typeface="Play"/>
                <a:sym typeface="Play"/>
              </a:rPr>
              <a:t>Orden</a:t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9620250" y="2990850"/>
            <a:ext cx="75057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Busca el ultimo fichaje del empleado y evita casos incoherentes: dos entradas seguidas o salida sin entrada previa.</a:t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9620250" y="4114800"/>
            <a:ext cx="7505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ultimoRegistro.get().getEstado()</a:t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Mejoras detectadas</a:t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Ademas de explicar lo que funciona, queda bien cerrar mostrando criterio tecnico.</a:t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876300" y="2095500"/>
            <a:ext cx="8630536" cy="6983730"/>
          </a:xfrm>
          <a:prstGeom prst="roundRect">
            <a:avLst>
              <a:gd fmla="val 1637" name="adj"/>
            </a:avLst>
          </a:prstGeom>
          <a:solidFill>
            <a:srgbClr val="F7EFE1"/>
          </a:solidFill>
          <a:ln cap="flat" cmpd="sng" w="19050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1162050" y="23812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3524250" y="2400300"/>
            <a:ext cx="5695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no usar solo DNI como acceso</a:t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1162050" y="28384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7D57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3524250" y="2857500"/>
            <a:ext cx="5695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probar validaciones sin depender de MySQL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1162050" y="32766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362F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3524250" y="3295650"/>
            <a:ext cx="5695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unificar clave de Google Maps</a:t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1162050" y="37147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5424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3524250" y="3733800"/>
            <a:ext cx="5695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F2522"/>
                </a:solidFill>
                <a:latin typeface="Cascadia Mono"/>
                <a:ea typeface="Cascadia Mono"/>
                <a:cs typeface="Cascadia Mono"/>
                <a:sym typeface="Cascadia Mono"/>
              </a:rPr>
              <a:t>mejorar emparejado entrada/salida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9906886" y="2095500"/>
            <a:ext cx="7504814" cy="6983730"/>
          </a:xfrm>
          <a:prstGeom prst="roundRect">
            <a:avLst>
              <a:gd fmla="val 1637" name="adj"/>
            </a:avLst>
          </a:prstGeom>
          <a:solidFill>
            <a:srgbClr val="F6E7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10191750" y="2381250"/>
            <a:ext cx="6934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B54242"/>
                </a:solidFill>
                <a:latin typeface="Play"/>
                <a:ea typeface="Play"/>
                <a:cs typeface="Play"/>
                <a:sym typeface="Play"/>
              </a:rPr>
              <a:t>Ejemplo concreto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10191750" y="3028950"/>
            <a:ext cx="69342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FichajeController lee app.google-maps-api-key, pero application.properties define key. Es una mejora sencilla y facil de defender.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876300" y="666750"/>
            <a:ext cx="16535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F2522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876300" y="1466850"/>
            <a:ext cx="16535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es un proyecto completo porque une interfaz, backend, base de datos y reglas reales.</a:t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876300" y="4591050"/>
            <a:ext cx="638175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21362F"/>
                </a:solidFill>
                <a:latin typeface="Play"/>
                <a:ea typeface="Play"/>
                <a:cs typeface="Play"/>
                <a:sym typeface="Play"/>
              </a:rPr>
              <a:t>El proyecto no solo guarda fichajes: decide si un fichaje tiene sentido.</a:t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9363075" y="2819400"/>
            <a:ext cx="8048625" cy="1684020"/>
          </a:xfrm>
          <a:prstGeom prst="roundRect">
            <a:avLst>
              <a:gd fmla="val 6787" name="adj"/>
            </a:avLst>
          </a:prstGeom>
          <a:solidFill>
            <a:srgbClr val="E6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9620250" y="3067050"/>
            <a:ext cx="7562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F8C"/>
                </a:solidFill>
                <a:latin typeface="Arial"/>
                <a:ea typeface="Arial"/>
                <a:cs typeface="Arial"/>
                <a:sym typeface="Arial"/>
              </a:rPr>
              <a:t>Para el usuario</a:t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9620250" y="3600450"/>
            <a:ext cx="75628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Acceso por DNI, botones de entrada/salida, mapa e historial personal.</a:t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9363075" y="4732020"/>
            <a:ext cx="8048625" cy="1684020"/>
          </a:xfrm>
          <a:prstGeom prst="roundRect">
            <a:avLst>
              <a:gd fmla="val 6787" name="adj"/>
            </a:avLst>
          </a:prstGeom>
          <a:solidFill>
            <a:srgbClr val="E7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9620250" y="4972050"/>
            <a:ext cx="7562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57"/>
                </a:solidFill>
                <a:latin typeface="Arial"/>
                <a:ea typeface="Arial"/>
                <a:cs typeface="Arial"/>
                <a:sym typeface="Arial"/>
              </a:rPr>
              <a:t>Por dentro</a:t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9620250" y="5505450"/>
            <a:ext cx="75628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Spring Boot separa controlador, servicios, repositorios y entidades JPA.</a:t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9363075" y="6644640"/>
            <a:ext cx="8048625" cy="1684020"/>
          </a:xfrm>
          <a:prstGeom prst="roundRect">
            <a:avLst>
              <a:gd fmla="val 6787" name="adj"/>
            </a:avLst>
          </a:prstGeom>
          <a:solidFill>
            <a:srgbClr val="F6E7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9620250" y="6896100"/>
            <a:ext cx="7562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B54242"/>
                </a:solidFill>
                <a:latin typeface="Arial"/>
                <a:ea typeface="Arial"/>
                <a:cs typeface="Arial"/>
                <a:sym typeface="Arial"/>
              </a:rPr>
              <a:t>Valor del proyecto</a:t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9620250" y="7410450"/>
            <a:ext cx="75628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1F2522"/>
                </a:solidFill>
                <a:latin typeface="Arial"/>
                <a:ea typeface="Arial"/>
                <a:cs typeface="Arial"/>
                <a:sym typeface="Arial"/>
              </a:rPr>
              <a:t>Aplica reglas reales: cercania al centro, horario permitido y orden correcto.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876300" y="9496425"/>
            <a:ext cx="14668500" cy="19050"/>
          </a:xfrm>
          <a:prstGeom prst="rect">
            <a:avLst/>
          </a:prstGeom>
          <a:solidFill>
            <a:srgbClr val="D7C9B5"/>
          </a:solidFill>
          <a:ln cap="flat" cmpd="sng" w="9525">
            <a:solidFill>
              <a:srgbClr val="D7C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15697200" y="93916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6B6258"/>
                </a:solidFill>
                <a:latin typeface="Arial"/>
                <a:ea typeface="Arial"/>
                <a:cs typeface="Arial"/>
                <a:sym typeface="Arial"/>
              </a:rPr>
              <a:t>GeoFichaje Jesus David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